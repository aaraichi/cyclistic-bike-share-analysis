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Cyclistic Bike-Share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Ayoub Aaraichi — Junior Data Analyst</a:t>
            </a:r>
          </a:p>
          <a:p>
            <a:r>
              <a:t>Google Data Analytics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Determine how annual members and casual riders use Cyclistic bikes differently.</a:t>
            </a:r>
          </a:p>
          <a:p>
            <a:pPr lvl="1"/>
            <a:r>
              <a:t>Insights support marketing strategies to convert casual riders into annual members.</a:t>
            </a:r>
          </a:p>
          <a:p>
            <a:pPr lvl="1"/>
            <a:r>
              <a:t>Executives require evidence-driven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Divvy public bike-share data (2019 Q1 &amp; 2020 Q1).</a:t>
            </a:r>
          </a:p>
          <a:p>
            <a:pPr lvl="1"/>
            <a:r>
              <a:t>Includes timestamps, ride length, station data, and rider type.</a:t>
            </a:r>
          </a:p>
          <a:p>
            <a:pPr lvl="1"/>
            <a:r>
              <a:t>No personal identifying information included.</a:t>
            </a:r>
          </a:p>
          <a:p>
            <a:pPr lvl="1"/>
            <a:r>
              <a:t>Cleaned dataset: ~790,000 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Standardized column names across years.</a:t>
            </a:r>
          </a:p>
          <a:p>
            <a:pPr lvl="1"/>
            <a:r>
              <a:t>Created fields: ride_length, day_of_week, month, hour.</a:t>
            </a:r>
          </a:p>
          <a:p>
            <a:pPr lvl="1"/>
            <a:r>
              <a:t>Removed negative and unrealistic ride durations.</a:t>
            </a:r>
          </a:p>
          <a:p>
            <a:pPr lvl="1"/>
            <a:r>
              <a:t>Ensured consistent data types for merging.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Ride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riders average 36.5 minutes per trip.</a:t>
            </a:r>
          </a:p>
          <a:p>
            <a:pPr lvl="1"/>
            <a:r>
              <a:t>Members average 11.4 minutes per trip.</a:t>
            </a:r>
          </a:p>
          <a:p>
            <a:pPr lvl="1"/>
            <a:r>
              <a:t>Indicates leisure vs. commuter behavior difference.</a:t>
            </a:r>
          </a:p>
        </p:txBody>
      </p:sp>
      <p:pic>
        <p:nvPicPr>
          <p:cNvPr id="4" name="Picture 3" descr="avg_ride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Rides by Day of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riders peak on weekends.</a:t>
            </a:r>
          </a:p>
          <a:p>
            <a:pPr lvl="1"/>
            <a:r>
              <a:t>Members peak Monday–Friday.</a:t>
            </a:r>
          </a:p>
          <a:p>
            <a:pPr lvl="1"/>
            <a:r>
              <a:t>Clear segmentation: leisure vs. commuters.</a:t>
            </a:r>
          </a:p>
        </p:txBody>
      </p:sp>
      <p:pic>
        <p:nvPicPr>
          <p:cNvPr id="4" name="Picture 3" descr="rides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Rides by Month (Q1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riding increases dramatically from Jan → Mar.</a:t>
            </a:r>
          </a:p>
          <a:p>
            <a:pPr lvl="1"/>
            <a:r>
              <a:t>Member usage remains steady.</a:t>
            </a:r>
          </a:p>
          <a:p>
            <a:pPr lvl="1"/>
            <a:r>
              <a:t>Seasonality offers conversion opportunities.</a:t>
            </a:r>
          </a:p>
        </p:txBody>
      </p:sp>
      <p:pic>
        <p:nvPicPr>
          <p:cNvPr id="4" name="Picture 3" descr="ride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Rides by Hour of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 ride most during commute hours (7–9 AM, 4–6 PM).</a:t>
            </a:r>
          </a:p>
          <a:p>
            <a:pPr lvl="1"/>
            <a:r>
              <a:t>Casual riders ride mid-day.</a:t>
            </a:r>
          </a:p>
          <a:p>
            <a:pPr lvl="1"/>
            <a:r>
              <a:t>Strong behavioral pattern differences.</a:t>
            </a:r>
          </a:p>
        </p:txBody>
      </p:sp>
      <p:pic>
        <p:nvPicPr>
          <p:cNvPr id="4" name="Picture 3" descr="ride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riders take 3× longer rides.</a:t>
            </a:r>
          </a:p>
          <a:p>
            <a:pPr lvl="1"/>
            <a:r>
              <a:t>Casual usage peaks weekends and warm months.</a:t>
            </a:r>
          </a:p>
          <a:p>
            <a:pPr lvl="1"/>
            <a:r>
              <a:t>Members follow predictable weekday commute patterns.</a:t>
            </a:r>
          </a:p>
          <a:p>
            <a:pPr lvl="1"/>
            <a:r>
              <a:t>Clear differentiation enables targeted marketing strategies.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 and casual riders show distinct usage patterns.</a:t>
            </a:r>
          </a:p>
          <a:p>
            <a:pPr lvl="1"/>
            <a:r>
              <a:t>Understanding these patterns enables strategic membership growth.</a:t>
            </a:r>
          </a:p>
          <a:p>
            <a:pPr lvl="1"/>
            <a:r>
              <a:t>Data supports targeted, behavior-based marketing campaigns.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1: Seasonal Promotions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casual riders during warm-season spikes.</a:t>
            </a:r>
          </a:p>
          <a:p>
            <a:pPr lvl="1"/>
            <a:r>
              <a:t>Offer discounted spring/summer membership upgrades.</a:t>
            </a:r>
          </a:p>
          <a:p>
            <a:pPr lvl="1"/>
            <a:r>
              <a:t>Use in-app prompts after long weekend rides.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2: Commuter-Focused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membership as a weekday commuter solution.</a:t>
            </a:r>
          </a:p>
          <a:p>
            <a:pPr lvl="1"/>
            <a:r>
              <a:t>Employer discount partnerships.</a:t>
            </a:r>
          </a:p>
          <a:p>
            <a:pPr lvl="1"/>
            <a:r>
              <a:t>Advertise during morning/evening ride peaks.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3: Digital Behavioral Targeting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In-app notifications after long rides.</a:t>
            </a:r>
          </a:p>
          <a:p>
            <a:pPr lvl="1"/>
            <a:r>
              <a:t>Weekend social media ads for leisure riders.</a:t>
            </a:r>
          </a:p>
          <a:p>
            <a:pPr lvl="1"/>
            <a:r>
              <a:t>Personalized emails highlighting savings.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A/B tests on membership campaigns.</a:t>
            </a:r>
          </a:p>
          <a:p>
            <a:pPr lvl="1"/>
            <a:r>
              <a:t>Introduce commuter trial passes.</a:t>
            </a:r>
          </a:p>
          <a:p>
            <a:pPr lvl="1"/>
            <a:r>
              <a:t>Add weather &amp; location data for deeper personalization.</a:t>
            </a:r>
          </a:p>
          <a:p>
            <a:pPr lvl="1"/>
            <a:r>
              <a:t>Monitor conversion metrics and optimize campaigns.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Cyclistic can grow membership by targeting casual riders.</a:t>
            </a:r>
          </a:p>
          <a:p>
            <a:pPr lvl="1"/>
            <a:r>
              <a:t>Behavior-based marketing increases conversion likelihood.</a:t>
            </a:r>
          </a:p>
          <a:p>
            <a:pPr lvl="1"/>
            <a:r>
              <a:t>Strong data patterns guide actionable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